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8410" y="1987600"/>
            <a:ext cx="36070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TERMINAL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076940" y="2517725"/>
            <a:ext cx="498997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institutional terminal for on-chain wealth management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36013" y="2927300"/>
            <a:ext cx="7071973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fragmented on-chain data into actionable investment intelligence. An AI-powered portfolio and settlement engine.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are flying blind on-chain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384102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problems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1500" y="1612702"/>
            <a:ext cx="3905250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view across chains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allocation decisions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inefficiencies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blind spots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67250" y="1384102"/>
            <a:ext cx="3905250" cy="1182886"/>
          </a:xfrm>
          <a:prstGeom prst="roundRect">
            <a:avLst>
              <a:gd name="adj" fmla="val 4295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676775" y="1384102"/>
            <a:ext cx="0" cy="1182886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3250" y="1511052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reality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13250" y="1739652"/>
            <a:ext cx="370494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CIO managing $500M must: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13250" y="1952923"/>
            <a:ext cx="3632299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into 15+ dashboards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track yields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opportunities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institutions use Atlas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511052"/>
            <a:ext cx="1905000" cy="1309985"/>
          </a:xfrm>
          <a:prstGeom prst="roundRect">
            <a:avLst>
              <a:gd name="adj" fmla="val 387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1025" y="1511052"/>
            <a:ext cx="0" cy="1309985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500" y="1663303"/>
            <a:ext cx="166469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7500" y="2115145"/>
            <a:ext cx="16646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7500" y="2343745"/>
            <a:ext cx="1664690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dashboard across all chains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3450" y="1511052"/>
            <a:ext cx="1905000" cy="1309985"/>
          </a:xfrm>
          <a:prstGeom prst="roundRect">
            <a:avLst>
              <a:gd name="adj" fmla="val 387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12975" y="1511052"/>
            <a:ext cx="0" cy="1309985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9451" y="1663303"/>
            <a:ext cx="166469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9451" y="2115145"/>
            <a:ext cx="16646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9451" y="2343745"/>
            <a:ext cx="1664690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recommends reallocating capital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5401" y="1511052"/>
            <a:ext cx="1905000" cy="1309985"/>
          </a:xfrm>
          <a:prstGeom prst="roundRect">
            <a:avLst>
              <a:gd name="adj" fmla="val 387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4926" y="1511052"/>
            <a:ext cx="0" cy="1309985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1401" y="1663303"/>
            <a:ext cx="166469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81401" y="2115145"/>
            <a:ext cx="16646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check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81401" y="2343745"/>
            <a:ext cx="1664690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validated in real 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67351" y="1511052"/>
            <a:ext cx="1905149" cy="1309985"/>
          </a:xfrm>
          <a:prstGeom prst="roundRect">
            <a:avLst>
              <a:gd name="adj" fmla="val 387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676876" y="1511052"/>
            <a:ext cx="0" cy="1309985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3352" y="1663303"/>
            <a:ext cx="166484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13352" y="2115145"/>
            <a:ext cx="1664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3352" y="2343745"/>
            <a:ext cx="166484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 settlement with audit trail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490" y="3011537"/>
            <a:ext cx="816102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15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faster decisions, higher capital utilization, lower operational risk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wealth is moving on-chain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384102"/>
            <a:ext cx="3905250" cy="969615"/>
          </a:xfrm>
          <a:prstGeom prst="roundRect">
            <a:avLst>
              <a:gd name="adj" fmla="val 52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1025" y="1384102"/>
            <a:ext cx="0" cy="969615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500" y="1511052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changing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500" y="1739652"/>
            <a:ext cx="3632299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 treasuries and funds are live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entering production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clarity improving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67250" y="1384102"/>
            <a:ext cx="3905250" cy="969615"/>
          </a:xfrm>
          <a:prstGeom prst="roundRect">
            <a:avLst>
              <a:gd name="adj" fmla="val 52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76775" y="1384102"/>
            <a:ext cx="0" cy="969615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3250" y="1511052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signals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3250" y="1739652"/>
            <a:ext cx="3632299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BlackRock BUIDL multi-billion AUM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JPMorgan tokenized products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moving on-chain fast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1500" y="2480667"/>
            <a:ext cx="2565350" cy="733425"/>
          </a:xfrm>
          <a:prstGeom prst="roundRect">
            <a:avLst>
              <a:gd name="adj" fmla="val 6926"/>
            </a:avLst>
          </a:prstGeom>
          <a:solidFill>
            <a:srgbClr val="1A2332"/>
          </a:solidFill>
          <a:ln w="19050">
            <a:solidFill>
              <a:srgbClr val="FBBF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8808" y="2601218"/>
            <a:ext cx="237073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AUM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68808" y="2733080"/>
            <a:ext cx="2370734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~$220T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89250" y="2480667"/>
            <a:ext cx="2565350" cy="733425"/>
          </a:xfrm>
          <a:prstGeom prst="roundRect">
            <a:avLst>
              <a:gd name="adj" fmla="val 6926"/>
            </a:avLst>
          </a:prstGeom>
          <a:solidFill>
            <a:srgbClr val="1A2332"/>
          </a:solidFill>
          <a:ln w="19050">
            <a:solidFill>
              <a:srgbClr val="FBBF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86559" y="2601218"/>
            <a:ext cx="237073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 BY 2030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86559" y="2733080"/>
            <a:ext cx="2370734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~$16T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07001" y="2480667"/>
            <a:ext cx="2565499" cy="733425"/>
          </a:xfrm>
          <a:prstGeom prst="roundRect">
            <a:avLst>
              <a:gd name="adj" fmla="val 6926"/>
            </a:avLst>
          </a:prstGeom>
          <a:solidFill>
            <a:srgbClr val="1A2332"/>
          </a:solidFill>
          <a:ln w="19050">
            <a:solidFill>
              <a:srgbClr val="FBBF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04308" y="2601218"/>
            <a:ext cx="237088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OPPORTUNITY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04308" y="2733080"/>
            <a:ext cx="237088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$10B+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window of opportunity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384102"/>
            <a:ext cx="3905250" cy="807244"/>
          </a:xfrm>
          <a:prstGeom prst="roundRect">
            <a:avLst>
              <a:gd name="adj" fmla="val 629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1025" y="1384102"/>
            <a:ext cx="0" cy="807244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500" y="1511052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ready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500" y="1739652"/>
            <a:ext cx="363229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L2s and Solana at scale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 treasuries live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67250" y="1384102"/>
            <a:ext cx="3905250" cy="807244"/>
          </a:xfrm>
          <a:prstGeom prst="roundRect">
            <a:avLst>
              <a:gd name="adj" fmla="val 629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76775" y="1384102"/>
            <a:ext cx="0" cy="807244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3250" y="1511052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allocating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3250" y="1739652"/>
            <a:ext cx="363229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offices, banks active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moving before tooling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1500" y="2381845"/>
            <a:ext cx="3905250" cy="807244"/>
          </a:xfrm>
          <a:prstGeom prst="roundRect">
            <a:avLst>
              <a:gd name="adj" fmla="val 629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81025" y="2381845"/>
            <a:ext cx="0" cy="807244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500" y="2508796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vendors slow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7500" y="2737396"/>
            <a:ext cx="363229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lacks native on-chain intelligence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18-24 month gap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7250" y="2381845"/>
            <a:ext cx="3905250" cy="807244"/>
          </a:xfrm>
          <a:prstGeom prst="roundRect">
            <a:avLst>
              <a:gd name="adj" fmla="val 629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76775" y="2381845"/>
            <a:ext cx="0" cy="807244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3250" y="2508796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up the stack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3250" y="2737396"/>
            <a:ext cx="363229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commoditized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intelligence premium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system for on-chain wealth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67185" y="1574602"/>
            <a:ext cx="5609481" cy="1685479"/>
          </a:xfrm>
          <a:prstGeom prst="roundRect">
            <a:avLst>
              <a:gd name="adj" fmla="val 301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776710" y="1574602"/>
            <a:ext cx="0" cy="1685479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89310" y="1828502"/>
            <a:ext cx="51842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TERMINAL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89310" y="2193578"/>
            <a:ext cx="518428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Bloomberg-inspired platform combining real-time on-chain data with AI-driven portfolio intelligence.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40136" y="2483048"/>
            <a:ext cx="252739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Decision and allocation engine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44926" y="2483048"/>
            <a:ext cx="252739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Portfolio command center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40136" y="2808089"/>
            <a:ext cx="252739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Compliance intelligence layer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44926" y="2808089"/>
            <a:ext cx="252739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Institutional-grade interface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11153" y="4100661"/>
            <a:ext cx="2121694" cy="505271"/>
          </a:xfrm>
          <a:prstGeom prst="roundRect">
            <a:avLst>
              <a:gd name="adj" fmla="val 1005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520678" y="4100661"/>
            <a:ext cx="0" cy="505271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9054" y="4189512"/>
            <a:ext cx="19634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19054" y="4380012"/>
            <a:ext cx="196344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Coinpaprika real-time multi-chain data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11153" y="3544639"/>
            <a:ext cx="2121694" cy="505271"/>
          </a:xfrm>
          <a:prstGeom prst="roundRect">
            <a:avLst>
              <a:gd name="adj" fmla="val 1005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20678" y="3544639"/>
            <a:ext cx="0" cy="505271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9054" y="3633490"/>
            <a:ext cx="19634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intelligence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9054" y="3823990"/>
            <a:ext cx="196344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and asset insights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11153" y="2988618"/>
            <a:ext cx="2121694" cy="505271"/>
          </a:xfrm>
          <a:prstGeom prst="roundRect">
            <a:avLst>
              <a:gd name="adj" fmla="val 1005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520678" y="2988618"/>
            <a:ext cx="0" cy="505271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9054" y="3077468"/>
            <a:ext cx="19634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9054" y="3267968"/>
            <a:ext cx="196344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Cross-chain aggregation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11153" y="2432596"/>
            <a:ext cx="2121694" cy="505271"/>
          </a:xfrm>
          <a:prstGeom prst="roundRect">
            <a:avLst>
              <a:gd name="adj" fmla="val 10054"/>
            </a:avLst>
          </a:prstGeom>
          <a:solidFill>
            <a:srgbClr val="FBBF2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520678" y="2432596"/>
            <a:ext cx="0" cy="505271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9054" y="2521446"/>
            <a:ext cx="19634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9054" y="2711946"/>
            <a:ext cx="196344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 recommendations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11153" y="1876574"/>
            <a:ext cx="2121694" cy="505271"/>
          </a:xfrm>
          <a:prstGeom prst="roundRect">
            <a:avLst>
              <a:gd name="adj" fmla="val 1005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520678" y="1876574"/>
            <a:ext cx="0" cy="505271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9054" y="1965424"/>
            <a:ext cx="19634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UX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9054" y="2155924"/>
            <a:ext cx="196344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Terminal-style interface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11153" y="1320552"/>
            <a:ext cx="2121694" cy="505271"/>
          </a:xfrm>
          <a:prstGeom prst="roundRect">
            <a:avLst>
              <a:gd name="adj" fmla="val 1005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520678" y="1320552"/>
            <a:ext cx="0" cy="505271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9054" y="1409402"/>
            <a:ext cx="19634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9054" y="1599902"/>
            <a:ext cx="196344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Custody, trading, reporting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to decisions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384102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AI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1500" y="1612702"/>
            <a:ext cx="3905250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Buy, hold, reduce signals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efficiency monitoring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market adaptation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67250" y="1384102"/>
            <a:ext cx="3905250" cy="1284387"/>
          </a:xfrm>
          <a:prstGeom prst="roundRect">
            <a:avLst>
              <a:gd name="adj" fmla="val 3955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676775" y="1384102"/>
            <a:ext cx="0" cy="1284387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3250" y="1511052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delivered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13250" y="1739652"/>
            <a:ext cx="3632299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manual decisions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reactions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operational risk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13250" y="2328267"/>
            <a:ext cx="370494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pilots improve capital efficiency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settlement a competitive advantage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384102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1500" y="1612702"/>
            <a:ext cx="3905250" cy="811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settlement times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T+0 vs delayed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opportunity cost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gas fees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routing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67250" y="1384102"/>
            <a:ext cx="3905250" cy="1040457"/>
          </a:xfrm>
          <a:prstGeom prst="roundRect">
            <a:avLst>
              <a:gd name="adj" fmla="val 488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676775" y="1384102"/>
            <a:ext cx="0" cy="1040457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3250" y="1511052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13250" y="1739652"/>
            <a:ext cx="3632299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reinvestment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settlement risk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liquidity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built into the workflow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384102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Atlas monitors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1500" y="1612702"/>
            <a:ext cx="3905250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risk in real time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constraints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Counterparty exposure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reporting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67250" y="1384102"/>
            <a:ext cx="3905250" cy="969615"/>
          </a:xfrm>
          <a:prstGeom prst="roundRect">
            <a:avLst>
              <a:gd name="adj" fmla="val 52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676775" y="1384102"/>
            <a:ext cx="0" cy="969615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3250" y="1511052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13250" y="1739652"/>
            <a:ext cx="3632299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compliance surprises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audit prep time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of truth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384102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1500" y="1612702"/>
            <a:ext cx="3905250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positions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performance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Cross-protocol analytics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alerts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67250" y="1384102"/>
            <a:ext cx="3905250" cy="878086"/>
          </a:xfrm>
          <a:prstGeom prst="roundRect">
            <a:avLst>
              <a:gd name="adj" fmla="val 5785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676775" y="1384102"/>
            <a:ext cx="0" cy="878086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3250" y="1511052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13250" y="1739652"/>
            <a:ext cx="363229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dashboard sprawl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informed decisions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Atlas wins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durable moat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384102"/>
            <a:ext cx="3905250" cy="695771"/>
          </a:xfrm>
          <a:prstGeom prst="roundRect">
            <a:avLst>
              <a:gd name="adj" fmla="val 730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1025" y="1384102"/>
            <a:ext cx="0" cy="695771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500" y="1511052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Proprietary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500" y="1739652"/>
            <a:ext cx="370494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Decade of crypto market data infrastructure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7250" y="1384102"/>
            <a:ext cx="3905250" cy="695771"/>
          </a:xfrm>
          <a:prstGeom prst="roundRect">
            <a:avLst>
              <a:gd name="adj" fmla="val 730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76775" y="1384102"/>
            <a:ext cx="0" cy="695771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3250" y="1511052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for institutions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3250" y="1739652"/>
            <a:ext cx="370494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real portfolios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500" y="2270373"/>
            <a:ext cx="3905250" cy="695771"/>
          </a:xfrm>
          <a:prstGeom prst="roundRect">
            <a:avLst>
              <a:gd name="adj" fmla="val 730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81025" y="2270373"/>
            <a:ext cx="0" cy="695771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500" y="2397323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Institutional trust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7500" y="2625923"/>
            <a:ext cx="370494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Compliance-first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7250" y="2270373"/>
            <a:ext cx="3905250" cy="695771"/>
          </a:xfrm>
          <a:prstGeom prst="roundRect">
            <a:avLst>
              <a:gd name="adj" fmla="val 730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76775" y="2270373"/>
            <a:ext cx="0" cy="695771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3250" y="2397323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Deep integrations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3250" y="2625923"/>
            <a:ext cx="370494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switching costs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and high-touch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384102"/>
            <a:ext cx="2565350" cy="909042"/>
          </a:xfrm>
          <a:prstGeom prst="roundRect">
            <a:avLst>
              <a:gd name="adj" fmla="val 558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1025" y="1384102"/>
            <a:ext cx="0" cy="909042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500" y="1511052"/>
            <a:ext cx="23382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Pilot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500" y="1739652"/>
            <a:ext cx="2338248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3-5 institutions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7500" y="1952923"/>
            <a:ext cx="2338248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</a:t>
            </a:r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 validation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89250" y="1384102"/>
            <a:ext cx="2565350" cy="909042"/>
          </a:xfrm>
          <a:prstGeom prst="roundRect">
            <a:avLst>
              <a:gd name="adj" fmla="val 558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98775" y="1384102"/>
            <a:ext cx="0" cy="909042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5251" y="1511052"/>
            <a:ext cx="23382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Launch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35251" y="1739652"/>
            <a:ext cx="2338248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Mid-market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35251" y="1952923"/>
            <a:ext cx="2338248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</a:t>
            </a:r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$1-2M ARR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07001" y="1384102"/>
            <a:ext cx="2565499" cy="909042"/>
          </a:xfrm>
          <a:prstGeom prst="roundRect">
            <a:avLst>
              <a:gd name="adj" fmla="val 5588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16526" y="1384102"/>
            <a:ext cx="0" cy="909042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001" y="1511052"/>
            <a:ext cx="2338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Scale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53001" y="1739652"/>
            <a:ext cx="233839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Enterprise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3001" y="1952923"/>
            <a:ext cx="233839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</a:t>
            </a:r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$20M+ ARR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1500" y="2420094"/>
            <a:ext cx="8001000" cy="969615"/>
          </a:xfrm>
          <a:prstGeom prst="roundRect">
            <a:avLst>
              <a:gd name="adj" fmla="val 52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1025" y="2420094"/>
            <a:ext cx="0" cy="969615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500" y="2547045"/>
            <a:ext cx="7882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motion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7500" y="2775645"/>
            <a:ext cx="7728049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sales to CIOs and CFOs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 partnerships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events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SaaS pricing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91490" y="2870002"/>
            <a:ext cx="816102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spcBef>
                <a:spcPts val="15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scales with AUM, integrations, and support level.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people who know the space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638002"/>
            <a:ext cx="3905250" cy="832842"/>
          </a:xfrm>
          <a:prstGeom prst="roundRect">
            <a:avLst>
              <a:gd name="adj" fmla="val 6100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1025" y="1638002"/>
            <a:ext cx="0" cy="832842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500" y="1764953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500" y="1993553"/>
            <a:ext cx="3704945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years building crypto market data infrastructure. Deep DeFi, data engineering, and product execution experience.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7250" y="1638002"/>
            <a:ext cx="3905250" cy="832842"/>
          </a:xfrm>
          <a:prstGeom prst="roundRect">
            <a:avLst>
              <a:gd name="adj" fmla="val 6100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76775" y="1638002"/>
            <a:ext cx="0" cy="832842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3250" y="1764953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3250" y="1993553"/>
            <a:ext cx="3704945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finance and compliance experts. Strategic partners in custody and infrastructure.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500" y="97452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the real challenges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384102"/>
            <a:ext cx="2565350" cy="969615"/>
          </a:xfrm>
          <a:prstGeom prst="roundRect">
            <a:avLst>
              <a:gd name="adj" fmla="val 52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1025" y="1384102"/>
            <a:ext cx="0" cy="969615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500" y="1511052"/>
            <a:ext cx="23382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500" y="1739652"/>
            <a:ext cx="2292400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compliance framework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89250" y="1384102"/>
            <a:ext cx="2565350" cy="969615"/>
          </a:xfrm>
          <a:prstGeom prst="roundRect">
            <a:avLst>
              <a:gd name="adj" fmla="val 52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98775" y="1384102"/>
            <a:ext cx="0" cy="969615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5251" y="1511052"/>
            <a:ext cx="23382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35251" y="1739652"/>
            <a:ext cx="2292400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sources and SLAs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health monitoring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07001" y="1384102"/>
            <a:ext cx="2565499" cy="969615"/>
          </a:xfrm>
          <a:prstGeom prst="roundRect">
            <a:avLst>
              <a:gd name="adj" fmla="val 52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16526" y="1384102"/>
            <a:ext cx="0" cy="969615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001" y="1511052"/>
            <a:ext cx="2338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53001" y="1739652"/>
            <a:ext cx="2292548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of execution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depth</a:t>
            </a:r>
            <a:endParaRPr lang="en-US" sz="800" dirty="0"/>
          </a:p>
          <a:p>
            <a:pPr algn="l" marL="342900" indent="-342900">
              <a:lnSpc>
                <a:spcPts val="880"/>
              </a:lnSpc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relationships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4456" y="770483"/>
            <a:ext cx="473494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4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TERMINAL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307729" y="1706910"/>
            <a:ext cx="4528393" cy="1305223"/>
          </a:xfrm>
          <a:prstGeom prst="roundRect">
            <a:avLst>
              <a:gd name="adj" fmla="val 3892"/>
            </a:avLst>
          </a:prstGeom>
          <a:solidFill>
            <a:srgbClr val="1A2332"/>
          </a:solidFill>
          <a:ln w="38100">
            <a:solidFill>
              <a:srgbClr val="FBBF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60286" y="1998911"/>
            <a:ext cx="4023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$5M seed round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286" y="2392561"/>
            <a:ext cx="402328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spcAft>
                <a:spcPts val="1500"/>
              </a:spcAft>
              <a:buNone/>
            </a:pPr>
            <a:r>
              <a:rPr lang="en-US" sz="9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pPr algn="ctr" indent="0" marL="0">
              <a:lnSpc>
                <a:spcPts val="1080"/>
              </a:lnSpc>
              <a:spcAft>
                <a:spcPts val="15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 development • GTM execution • Compliance • Runway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16991" y="3266033"/>
            <a:ext cx="271001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Interested in investing?</a:t>
            </a:r>
            <a:pPr algn="ctr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investors@atlasterminal.io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16991" y="3479304"/>
            <a:ext cx="271001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Interested in piloting?</a:t>
            </a:r>
            <a:pPr algn="ctr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pilots@atlasterminal.io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16991" y="3692575"/>
            <a:ext cx="271001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integrate?</a:t>
            </a:r>
            <a:pPr algn="ctr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partnerships@atlasterminal.io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81610" y="4159746"/>
            <a:ext cx="438078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terminal becomes the default system institutions use to deploy capital on-chain.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Terminal - Institutional Terminal for On-Chain Wealth</dc:title>
  <dc:subject>PptxGenJS Presentation</dc:subject>
  <dc:creator>Atlas Terminal</dc:creator>
  <cp:lastModifiedBy>Atlas Terminal</cp:lastModifiedBy>
  <cp:revision>1</cp:revision>
  <dcterms:created xsi:type="dcterms:W3CDTF">2025-12-21T16:53:48Z</dcterms:created>
  <dcterms:modified xsi:type="dcterms:W3CDTF">2025-12-21T16:53:48Z</dcterms:modified>
</cp:coreProperties>
</file>